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4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52" y="15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3D1FD50-16F2-4DF4-8BDF-38D61CE69905}"/>
              </a:ext>
            </a:extLst>
          </p:cNvPr>
          <p:cNvSpPr/>
          <p:nvPr userDrawn="1"/>
        </p:nvSpPr>
        <p:spPr>
          <a:xfrm>
            <a:off x="903188" y="-247333"/>
            <a:ext cx="5752251" cy="201824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C67BA58-7A09-4547-BAED-001287A2F2EE}"/>
              </a:ext>
            </a:extLst>
          </p:cNvPr>
          <p:cNvCxnSpPr/>
          <p:nvPr userDrawn="1"/>
        </p:nvCxnSpPr>
        <p:spPr>
          <a:xfrm>
            <a:off x="504497" y="231228"/>
            <a:ext cx="0" cy="283779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3296E60-0868-48A9-B479-2AB92BB2A7BF}"/>
              </a:ext>
            </a:extLst>
          </p:cNvPr>
          <p:cNvCxnSpPr/>
          <p:nvPr userDrawn="1"/>
        </p:nvCxnSpPr>
        <p:spPr>
          <a:xfrm>
            <a:off x="325821" y="483476"/>
            <a:ext cx="3090041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38E0229F-261C-41BF-A12C-B5845FA2FBD6}"/>
              </a:ext>
            </a:extLst>
          </p:cNvPr>
          <p:cNvCxnSpPr/>
          <p:nvPr userDrawn="1"/>
        </p:nvCxnSpPr>
        <p:spPr>
          <a:xfrm>
            <a:off x="11661228" y="231228"/>
            <a:ext cx="0" cy="283779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B1CA08C-B418-4425-B845-DCC4DB589141}"/>
              </a:ext>
            </a:extLst>
          </p:cNvPr>
          <p:cNvCxnSpPr/>
          <p:nvPr userDrawn="1"/>
        </p:nvCxnSpPr>
        <p:spPr>
          <a:xfrm>
            <a:off x="8833946" y="483476"/>
            <a:ext cx="3090041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4AEA4B8-5F70-408F-8267-EBC3BF799D39}"/>
              </a:ext>
            </a:extLst>
          </p:cNvPr>
          <p:cNvSpPr/>
          <p:nvPr userDrawn="1"/>
        </p:nvSpPr>
        <p:spPr>
          <a:xfrm rot="5400000">
            <a:off x="9839084" y="3621485"/>
            <a:ext cx="4196080" cy="9045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82BE6B4-BBE7-4FD2-9A9E-3F0A7E86E6ED}"/>
              </a:ext>
            </a:extLst>
          </p:cNvPr>
          <p:cNvSpPr/>
          <p:nvPr userDrawn="1"/>
        </p:nvSpPr>
        <p:spPr>
          <a:xfrm>
            <a:off x="903189" y="-247332"/>
            <a:ext cx="4196080" cy="9045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F320754-C7CA-4B0F-8B73-F8AA8A2CCFC9}"/>
              </a:ext>
            </a:extLst>
          </p:cNvPr>
          <p:cNvCxnSpPr>
            <a:cxnSpLocks/>
          </p:cNvCxnSpPr>
          <p:nvPr userDrawn="1"/>
        </p:nvCxnSpPr>
        <p:spPr>
          <a:xfrm>
            <a:off x="504497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D6C79DC-EE4C-4388-9262-DC5743925B11}"/>
              </a:ext>
            </a:extLst>
          </p:cNvPr>
          <p:cNvCxnSpPr>
            <a:cxnSpLocks/>
          </p:cNvCxnSpPr>
          <p:nvPr userDrawn="1"/>
        </p:nvCxnSpPr>
        <p:spPr>
          <a:xfrm>
            <a:off x="325821" y="4680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F6707BF-E794-4758-9198-C4AAEF44FAB4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F7D4AAE0-5436-4037-A072-14A77D30BC5C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51330AE4-0F80-4FD2-B97D-7A59BDCEC183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39ED9AD7-2833-49ED-A8DA-415C198F42A6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467381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1FBCD121-23DE-4E48-9674-5BF667C62D10}"/>
              </a:ext>
            </a:extLst>
          </p:cNvPr>
          <p:cNvCxnSpPr>
            <a:cxnSpLocks/>
          </p:cNvCxnSpPr>
          <p:nvPr userDrawn="1"/>
        </p:nvCxnSpPr>
        <p:spPr>
          <a:xfrm>
            <a:off x="325821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FE9831BE-31D6-4DF1-91FE-B61B9CEC498A}"/>
              </a:ext>
            </a:extLst>
          </p:cNvPr>
          <p:cNvCxnSpPr>
            <a:cxnSpLocks/>
          </p:cNvCxnSpPr>
          <p:nvPr userDrawn="1"/>
        </p:nvCxnSpPr>
        <p:spPr>
          <a:xfrm>
            <a:off x="504000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F84C9FF-64C4-4618-9726-6B133EDCAA1C}"/>
              </a:ext>
            </a:extLst>
          </p:cNvPr>
          <p:cNvSpPr/>
          <p:nvPr userDrawn="1"/>
        </p:nvSpPr>
        <p:spPr>
          <a:xfrm>
            <a:off x="903189" y="-247332"/>
            <a:ext cx="4196080" cy="9045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75B04B1-DB07-4665-BD0A-B478E567E861}"/>
              </a:ext>
            </a:extLst>
          </p:cNvPr>
          <p:cNvSpPr/>
          <p:nvPr userDrawn="1"/>
        </p:nvSpPr>
        <p:spPr>
          <a:xfrm rot="5400000">
            <a:off x="9839084" y="3621485"/>
            <a:ext cx="4196080" cy="9045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F539780-49F5-4453-B246-123EF9869C97}"/>
              </a:ext>
            </a:extLst>
          </p:cNvPr>
          <p:cNvCxnSpPr>
            <a:cxnSpLocks/>
          </p:cNvCxnSpPr>
          <p:nvPr userDrawn="1"/>
        </p:nvCxnSpPr>
        <p:spPr>
          <a:xfrm>
            <a:off x="504497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EB8BB6DE-FEDF-40A7-860E-03F8897CFC45}"/>
              </a:ext>
            </a:extLst>
          </p:cNvPr>
          <p:cNvCxnSpPr>
            <a:cxnSpLocks/>
          </p:cNvCxnSpPr>
          <p:nvPr userDrawn="1"/>
        </p:nvCxnSpPr>
        <p:spPr>
          <a:xfrm>
            <a:off x="325821" y="4680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1B34079-A0CC-4764-B2FB-A039F07A6BC2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F4253EE-6072-4F68-971B-A47CB1ED625F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C406EFD0-7731-42D5-BFEB-A9093C23524D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43A88D89-5BF4-4CCE-BDB9-19A752ED55FC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467381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69EEA78E-9AF0-41D3-861E-9195C915C0D2}"/>
              </a:ext>
            </a:extLst>
          </p:cNvPr>
          <p:cNvCxnSpPr>
            <a:cxnSpLocks/>
          </p:cNvCxnSpPr>
          <p:nvPr userDrawn="1"/>
        </p:nvCxnSpPr>
        <p:spPr>
          <a:xfrm>
            <a:off x="325821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E6D758FC-2531-4B75-97B5-2AF89F9A07EF}"/>
              </a:ext>
            </a:extLst>
          </p:cNvPr>
          <p:cNvCxnSpPr>
            <a:cxnSpLocks/>
          </p:cNvCxnSpPr>
          <p:nvPr userDrawn="1"/>
        </p:nvCxnSpPr>
        <p:spPr>
          <a:xfrm>
            <a:off x="504000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9E25F44-2886-4168-A05A-B449B6CBB3FD}"/>
              </a:ext>
            </a:extLst>
          </p:cNvPr>
          <p:cNvSpPr/>
          <p:nvPr userDrawn="1"/>
        </p:nvSpPr>
        <p:spPr>
          <a:xfrm>
            <a:off x="903189" y="-247332"/>
            <a:ext cx="4196080" cy="9045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3CAFB58-3E06-41C1-B1D3-8E757395E9F5}"/>
              </a:ext>
            </a:extLst>
          </p:cNvPr>
          <p:cNvSpPr/>
          <p:nvPr userDrawn="1"/>
        </p:nvSpPr>
        <p:spPr>
          <a:xfrm>
            <a:off x="596137" y="1805817"/>
            <a:ext cx="694326" cy="11135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593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4593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445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4445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361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4361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FD3D3-A261-41F6-9B31-77CF879FEDB4}"/>
              </a:ext>
            </a:extLst>
          </p:cNvPr>
          <p:cNvSpPr txBox="1"/>
          <p:nvPr userDrawn="1"/>
        </p:nvSpPr>
        <p:spPr>
          <a:xfrm>
            <a:off x="656202" y="1595368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/>
              <a:t>1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889ABCA-A0FD-4E3C-AFB3-8604C63789C3}"/>
              </a:ext>
            </a:extLst>
          </p:cNvPr>
          <p:cNvSpPr/>
          <p:nvPr userDrawn="1"/>
        </p:nvSpPr>
        <p:spPr>
          <a:xfrm>
            <a:off x="604341" y="3324606"/>
            <a:ext cx="694326" cy="11135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A9D2CA-8F73-4D3A-9B91-2101DC1239D1}"/>
              </a:ext>
            </a:extLst>
          </p:cNvPr>
          <p:cNvSpPr txBox="1"/>
          <p:nvPr userDrawn="1"/>
        </p:nvSpPr>
        <p:spPr>
          <a:xfrm>
            <a:off x="664406" y="3114157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/>
              <a:t>2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59BE560-D647-44EE-9A88-B7FD52A2E5FE}"/>
              </a:ext>
            </a:extLst>
          </p:cNvPr>
          <p:cNvSpPr/>
          <p:nvPr userDrawn="1"/>
        </p:nvSpPr>
        <p:spPr>
          <a:xfrm>
            <a:off x="604341" y="4872252"/>
            <a:ext cx="694326" cy="11135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C91866-0E34-4E24-830A-F655D0C79346}"/>
              </a:ext>
            </a:extLst>
          </p:cNvPr>
          <p:cNvSpPr txBox="1"/>
          <p:nvPr userDrawn="1"/>
        </p:nvSpPr>
        <p:spPr>
          <a:xfrm>
            <a:off x="664406" y="4661803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/>
              <a:t>3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9E2F3F11-B7C5-483E-86A6-1287F67442C8}"/>
              </a:ext>
            </a:extLst>
          </p:cNvPr>
          <p:cNvCxnSpPr>
            <a:cxnSpLocks/>
          </p:cNvCxnSpPr>
          <p:nvPr userDrawn="1"/>
        </p:nvCxnSpPr>
        <p:spPr>
          <a:xfrm>
            <a:off x="504497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2371BBAA-077E-4C88-B1DD-BEF3872F56D6}"/>
              </a:ext>
            </a:extLst>
          </p:cNvPr>
          <p:cNvCxnSpPr>
            <a:cxnSpLocks/>
          </p:cNvCxnSpPr>
          <p:nvPr userDrawn="1"/>
        </p:nvCxnSpPr>
        <p:spPr>
          <a:xfrm>
            <a:off x="325821" y="4680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342CE9A3-0EC4-457C-8634-4F0E0AD2DC25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E021C39A-DCA1-4E06-8D31-E867516DE30B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BC02349D-6773-40E7-9A32-EEA66FDCB6BD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C3469A3A-6A19-49D5-8236-5D576EC201A2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467381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B2DF72E4-035F-4A8A-9CC4-6AEE40CEC0F1}"/>
              </a:ext>
            </a:extLst>
          </p:cNvPr>
          <p:cNvCxnSpPr>
            <a:cxnSpLocks/>
          </p:cNvCxnSpPr>
          <p:nvPr userDrawn="1"/>
        </p:nvCxnSpPr>
        <p:spPr>
          <a:xfrm>
            <a:off x="325821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BEBAF21C-252C-41DF-B8BC-ED32970F4A58}"/>
              </a:ext>
            </a:extLst>
          </p:cNvPr>
          <p:cNvCxnSpPr>
            <a:cxnSpLocks/>
          </p:cNvCxnSpPr>
          <p:nvPr userDrawn="1"/>
        </p:nvCxnSpPr>
        <p:spPr>
          <a:xfrm>
            <a:off x="504000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208EC90-944D-41D0-9B21-591317DD814D}"/>
              </a:ext>
            </a:extLst>
          </p:cNvPr>
          <p:cNvCxnSpPr>
            <a:cxnSpLocks/>
          </p:cNvCxnSpPr>
          <p:nvPr userDrawn="1"/>
        </p:nvCxnSpPr>
        <p:spPr>
          <a:xfrm>
            <a:off x="504497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5437CD4-F16C-4334-8808-32569D0AE01F}"/>
              </a:ext>
            </a:extLst>
          </p:cNvPr>
          <p:cNvCxnSpPr>
            <a:cxnSpLocks/>
          </p:cNvCxnSpPr>
          <p:nvPr userDrawn="1"/>
        </p:nvCxnSpPr>
        <p:spPr>
          <a:xfrm>
            <a:off x="325821" y="4680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980DD60-1AA3-4A08-9611-651D640EC22A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D12EC0C-4C49-4CF8-BBAE-C52D728BEC6F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F812C86-C516-4FA0-A290-3977B163D412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C4F17A9-F14F-4A29-B7E0-1F9F399FC35C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467381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4D3E6B25-E05F-4368-A4E2-3951418D57DD}"/>
              </a:ext>
            </a:extLst>
          </p:cNvPr>
          <p:cNvCxnSpPr>
            <a:cxnSpLocks/>
          </p:cNvCxnSpPr>
          <p:nvPr userDrawn="1"/>
        </p:nvCxnSpPr>
        <p:spPr>
          <a:xfrm>
            <a:off x="325821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B8FE516D-0347-4D4B-8906-E720575B4150}"/>
              </a:ext>
            </a:extLst>
          </p:cNvPr>
          <p:cNvCxnSpPr>
            <a:cxnSpLocks/>
          </p:cNvCxnSpPr>
          <p:nvPr userDrawn="1"/>
        </p:nvCxnSpPr>
        <p:spPr>
          <a:xfrm>
            <a:off x="504000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vidia.com/cuda/" TargetMode="External"/><Relationship Id="rId2" Type="http://schemas.openxmlformats.org/officeDocument/2006/relationships/hyperlink" Target="https://habr.com/ru/articles/54707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pinterest.com/" TargetMode="External"/><Relationship Id="rId5" Type="http://schemas.openxmlformats.org/officeDocument/2006/relationships/hyperlink" Target="https://skysmart.ru/articles/programming/centralnyj-processor-cpu-chto-eto-takoe" TargetMode="External"/><Relationship Id="rId4" Type="http://schemas.openxmlformats.org/officeDocument/2006/relationships/hyperlink" Target="https://habr.com/ru/companies/itglobalcom/articles/746252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CUDA – </a:t>
            </a:r>
            <a:r>
              <a:rPr lang="ru-RU" dirty="0"/>
              <a:t>простыми словами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573D8-B18B-4351-8D21-9BF0CE49F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Kirill </a:t>
            </a:r>
            <a:r>
              <a:rPr lang="en-US" dirty="0" err="1"/>
              <a:t>Chistov</a:t>
            </a:r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48EEE-EB04-45C3-8A11-F15DBC12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План-проспект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E16F1E-F64A-4CD2-8C02-7EED1305B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Про </a:t>
            </a:r>
            <a:r>
              <a:rPr lang="en-US" dirty="0"/>
              <a:t>GPU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 </a:t>
            </a:r>
            <a:r>
              <a:rPr lang="en-US" dirty="0"/>
              <a:t>CPU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CUDA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Как работает?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053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313C0-E99C-43E5-B419-927A0C42C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5828"/>
            <a:ext cx="10515600" cy="1325563"/>
          </a:xfrm>
        </p:spPr>
        <p:txBody>
          <a:bodyPr/>
          <a:lstStyle/>
          <a:p>
            <a:r>
              <a:rPr lang="en-US" dirty="0"/>
              <a:t>GPU. </a:t>
            </a:r>
            <a:r>
              <a:rPr lang="ru-RU" dirty="0"/>
              <a:t>Что и зачем?</a:t>
            </a:r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41565BA-F540-4AFC-986F-248F12BC9080}"/>
              </a:ext>
            </a:extLst>
          </p:cNvPr>
          <p:cNvSpPr txBox="1">
            <a:spLocks/>
          </p:cNvSpPr>
          <p:nvPr/>
        </p:nvSpPr>
        <p:spPr>
          <a:xfrm>
            <a:off x="838200" y="2563141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3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46BBCE7-B0E1-F4FA-6EA5-4D3A42397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988123"/>
            <a:ext cx="4385418" cy="24557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74F414-0845-8357-84C5-FEE4F9B285CC}"/>
              </a:ext>
            </a:extLst>
          </p:cNvPr>
          <p:cNvSpPr txBox="1"/>
          <p:nvPr/>
        </p:nvSpPr>
        <p:spPr>
          <a:xfrm>
            <a:off x="7190159" y="4613019"/>
            <a:ext cx="3289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Красивое…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DE359D-CB8B-81D5-6818-A90A40514A8B}"/>
              </a:ext>
            </a:extLst>
          </p:cNvPr>
          <p:cNvSpPr txBox="1"/>
          <p:nvPr/>
        </p:nvSpPr>
        <p:spPr>
          <a:xfrm>
            <a:off x="939800" y="1993900"/>
            <a:ext cx="61023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GPU (Graphics Processing Unit)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– это графический процессор, основная задача которого – обработка компьютерной графики.  </a:t>
            </a:r>
            <a:endParaRPr lang="ru-RU" b="0" dirty="0">
              <a:effectLst/>
            </a:endParaRPr>
          </a:p>
          <a:p>
            <a:endParaRPr lang="ru-RU" dirty="0"/>
          </a:p>
          <a:p>
            <a:r>
              <a:rPr lang="ru-RU" dirty="0"/>
              <a:t>По сути, множество вычислительных блоков, способных параллельно выполнять большое кол-во задач. </a:t>
            </a:r>
          </a:p>
          <a:p>
            <a:endParaRPr lang="ru-RU" dirty="0"/>
          </a:p>
          <a:p>
            <a:r>
              <a:rPr lang="ru-RU" dirty="0"/>
              <a:t>Под капотом – математические операции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266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9B96A-B3C1-41B8-AA81-AF462A75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CPU. </a:t>
            </a:r>
            <a:r>
              <a:rPr lang="ru-RU" dirty="0"/>
              <a:t>Что и зачем?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F005547-E1A9-48B5-AD32-7EA934EB28F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86409A-2909-233A-A3D8-066DA27391B7}"/>
              </a:ext>
            </a:extLst>
          </p:cNvPr>
          <p:cNvSpPr txBox="1"/>
          <p:nvPr/>
        </p:nvSpPr>
        <p:spPr>
          <a:xfrm>
            <a:off x="1503787" y="1668109"/>
            <a:ext cx="5728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CPU (Central Processing Unit) – это центральный процессор, управляющий всеми компонентами системы компьютера, обрабатывающий данные и выполняющий инструкции программ.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733BAB-9FA3-0891-2C8B-FA50245E6C3E}"/>
              </a:ext>
            </a:extLst>
          </p:cNvPr>
          <p:cNvSpPr txBox="1"/>
          <p:nvPr/>
        </p:nvSpPr>
        <p:spPr>
          <a:xfrm>
            <a:off x="1587500" y="3260355"/>
            <a:ext cx="5378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 определенного момента отвечал за все вычисления внутри компьютера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A4FEC1-EDA6-755F-EE13-F1F7B86A5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4011530"/>
            <a:ext cx="5769611" cy="284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7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1BD7088-3841-96FF-6190-DD6300A148AE}"/>
              </a:ext>
            </a:extLst>
          </p:cNvPr>
          <p:cNvSpPr/>
          <p:nvPr/>
        </p:nvSpPr>
        <p:spPr>
          <a:xfrm>
            <a:off x="1352550" y="1736725"/>
            <a:ext cx="2755900" cy="43418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98CEE-51A1-4716-9FD5-FDE9070C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2B40B-B6E9-BA62-56F1-F66BDB8A97B7}"/>
              </a:ext>
            </a:extLst>
          </p:cNvPr>
          <p:cNvSpPr txBox="1"/>
          <p:nvPr/>
        </p:nvSpPr>
        <p:spPr>
          <a:xfrm>
            <a:off x="1447800" y="1825625"/>
            <a:ext cx="2565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CUDA --  архитектура параллельных вычислений. Разработка считается революционной, потому что позволяет использовать графические процессоры для решения общих вычислительных задач. </a:t>
            </a:r>
            <a:endParaRPr lang="ru-RU" b="0" dirty="0">
              <a:solidFill>
                <a:schemeClr val="bg1"/>
              </a:solidFill>
              <a:effectLst/>
            </a:endParaRPr>
          </a:p>
          <a:p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8954328-3B45-3C6A-1441-E5F17DD56940}"/>
              </a:ext>
            </a:extLst>
          </p:cNvPr>
          <p:cNvSpPr/>
          <p:nvPr/>
        </p:nvSpPr>
        <p:spPr>
          <a:xfrm>
            <a:off x="6324600" y="736600"/>
            <a:ext cx="3994150" cy="12001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C761F-E88D-4BED-85AA-20D3AF23B91B}"/>
              </a:ext>
            </a:extLst>
          </p:cNvPr>
          <p:cNvSpPr txBox="1"/>
          <p:nvPr/>
        </p:nvSpPr>
        <p:spPr>
          <a:xfrm>
            <a:off x="6826250" y="1104900"/>
            <a:ext cx="349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Матрицы, цифры, работа…</a:t>
            </a:r>
          </a:p>
        </p:txBody>
      </p:sp>
      <p:pic>
        <p:nvPicPr>
          <p:cNvPr id="2050" name="Picture 2" descr="Cuda — язык программирования, программная среда разработки | xTechx.ru">
            <a:extLst>
              <a:ext uri="{FF2B5EF4-FFF2-40B4-BE49-F238E27FC236}">
                <a16:creationId xmlns:a16="http://schemas.microsoft.com/office/drawing/2014/main" id="{2B5BA0F9-5D57-1A8D-513D-1801CAACA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5" y="2204234"/>
            <a:ext cx="3213100" cy="32131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88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AF770-64CD-4FF7-92A0-D9D4E501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Как?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39B40D5-63A2-4CE8-8288-D01C5C5C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769" y="1578604"/>
            <a:ext cx="5619750" cy="3583946"/>
          </a:xfrm>
        </p:spPr>
        <p:txBody>
          <a:bodyPr>
            <a:normAutofit lnSpcReduction="10000"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Механизм работы архитектуры довольно простой: 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1)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сперва, пишем программу, которую будут выполнять ядра GPU на драйвер CUDA. 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2)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Затем, центральный процессор даёт команду выполнять вычисления на GPU параллельно, начинают работать тысячи вычислительных блоков. 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3)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Наконец, результат отдаётся центральному процессору для последующей записи в память. </a:t>
            </a:r>
            <a:endParaRPr lang="ru-RU" b="0" dirty="0">
              <a:effectLst/>
            </a:endParaRPr>
          </a:p>
          <a:p>
            <a:pPr marL="0" indent="0">
              <a:buNone/>
            </a:pPr>
            <a:br>
              <a:rPr lang="ru-RU" dirty="0"/>
            </a:br>
            <a:endParaRPr lang="en-US" dirty="0"/>
          </a:p>
        </p:txBody>
      </p:sp>
      <p:pic>
        <p:nvPicPr>
          <p:cNvPr id="5" name="Рисунок 4" descr="Презентация с линейчатой диаграммой">
            <a:extLst>
              <a:ext uri="{FF2B5EF4-FFF2-40B4-BE49-F238E27FC236}">
                <a16:creationId xmlns:a16="http://schemas.microsoft.com/office/drawing/2014/main" id="{E393F82E-A2E9-4F88-900C-40B87531C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654910" y="536496"/>
            <a:ext cx="6439760" cy="6439760"/>
          </a:xfrm>
          <a:prstGeom prst="rect">
            <a:avLst/>
          </a:prstGeom>
          <a:effectLst/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EC39020-1F1C-A38D-A480-75D9D5614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1939114"/>
            <a:ext cx="3632200" cy="25163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24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5B9331C3-7712-4142-83EC-649AE9ED4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77" y="332672"/>
            <a:ext cx="10515600" cy="1325563"/>
          </a:xfrm>
        </p:spPr>
        <p:txBody>
          <a:bodyPr/>
          <a:lstStyle/>
          <a:p>
            <a:r>
              <a:rPr lang="ru-RU" dirty="0"/>
              <a:t>Заключение и ссылки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68EF3A8-6687-4124-A04A-2525919C4727}"/>
              </a:ext>
            </a:extLst>
          </p:cNvPr>
          <p:cNvSpPr/>
          <p:nvPr/>
        </p:nvSpPr>
        <p:spPr>
          <a:xfrm>
            <a:off x="1706880" y="2027194"/>
            <a:ext cx="2601905" cy="385914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DF961581-77E2-483C-877A-2E27D65D8FA1}"/>
              </a:ext>
            </a:extLst>
          </p:cNvPr>
          <p:cNvSpPr/>
          <p:nvPr/>
        </p:nvSpPr>
        <p:spPr>
          <a:xfrm>
            <a:off x="2651760" y="168589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DF33B-3F56-4CF5-8EFF-11A967BC8B80}"/>
              </a:ext>
            </a:extLst>
          </p:cNvPr>
          <p:cNvSpPr txBox="1"/>
          <p:nvPr/>
        </p:nvSpPr>
        <p:spPr>
          <a:xfrm>
            <a:off x="2661286" y="1693305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78E784-7E8B-4712-8BBF-FE373F3EBF86}"/>
              </a:ext>
            </a:extLst>
          </p:cNvPr>
          <p:cNvSpPr/>
          <p:nvPr/>
        </p:nvSpPr>
        <p:spPr>
          <a:xfrm>
            <a:off x="4795047" y="2027193"/>
            <a:ext cx="2601905" cy="385914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650A125-B194-481E-9BAC-BFC3E05F5C2B}"/>
              </a:ext>
            </a:extLst>
          </p:cNvPr>
          <p:cNvSpPr txBox="1">
            <a:spLocks/>
          </p:cNvSpPr>
          <p:nvPr/>
        </p:nvSpPr>
        <p:spPr>
          <a:xfrm>
            <a:off x="4890092" y="2436745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u="sng" dirty="0">
                <a:solidFill>
                  <a:schemeClr val="bg1"/>
                </a:solidFill>
              </a:rPr>
              <a:t>Источники:</a:t>
            </a:r>
          </a:p>
          <a:p>
            <a:r>
              <a:rPr lang="en-US" sz="2400" dirty="0">
                <a:solidFill>
                  <a:schemeClr val="bg1"/>
                </a:solidFill>
                <a:hlinkClick r:id="rId2"/>
              </a:rPr>
              <a:t>CUDA: </a:t>
            </a:r>
            <a:r>
              <a:rPr lang="ru-RU" sz="2400" dirty="0">
                <a:solidFill>
                  <a:schemeClr val="bg1"/>
                </a:solidFill>
                <a:hlinkClick r:id="rId2"/>
              </a:rPr>
              <a:t>как работает </a:t>
            </a:r>
            <a:r>
              <a:rPr lang="en-US" sz="2400" dirty="0">
                <a:solidFill>
                  <a:schemeClr val="bg1"/>
                </a:solidFill>
                <a:hlinkClick r:id="rId2"/>
              </a:rPr>
              <a:t>GPU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linkClick r:id="rId3"/>
              </a:rPr>
              <a:t>CUDA Toolkit documentation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  <a:hlinkClick r:id="rId4"/>
              </a:rPr>
              <a:t>Всё, что нужно знать про </a:t>
            </a:r>
            <a:r>
              <a:rPr lang="en-US" sz="2400" dirty="0">
                <a:solidFill>
                  <a:schemeClr val="bg1"/>
                </a:solidFill>
                <a:hlinkClick r:id="rId4"/>
              </a:rPr>
              <a:t>GPU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  <a:hlinkClick r:id="rId5"/>
              </a:rPr>
              <a:t>Что такое центральный процессор</a:t>
            </a:r>
            <a:endParaRPr lang="ru-RU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  <a:hlinkClick r:id="rId6"/>
              </a:rPr>
              <a:t>GPU architecture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95CA05C-D87E-4F22-B2AD-FD55BBEDED6D}"/>
              </a:ext>
            </a:extLst>
          </p:cNvPr>
          <p:cNvSpPr/>
          <p:nvPr/>
        </p:nvSpPr>
        <p:spPr>
          <a:xfrm>
            <a:off x="5784024" y="1694731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AFD84-8FDA-4D19-BDD3-E9AC3CEA0C15}"/>
              </a:ext>
            </a:extLst>
          </p:cNvPr>
          <p:cNvSpPr txBox="1"/>
          <p:nvPr/>
        </p:nvSpPr>
        <p:spPr>
          <a:xfrm>
            <a:off x="5777377" y="1677013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23073644-3C55-4A09-89F0-17501D49A54E}"/>
              </a:ext>
            </a:extLst>
          </p:cNvPr>
          <p:cNvSpPr txBox="1">
            <a:spLocks/>
          </p:cNvSpPr>
          <p:nvPr/>
        </p:nvSpPr>
        <p:spPr>
          <a:xfrm>
            <a:off x="1822090" y="2474182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CUDA – </a:t>
            </a:r>
            <a:r>
              <a:rPr lang="ru-RU" sz="2400" dirty="0">
                <a:solidFill>
                  <a:schemeClr val="bg1"/>
                </a:solidFill>
              </a:rPr>
              <a:t>набор инструментов, позволяющий использовать потенциал </a:t>
            </a:r>
            <a:r>
              <a:rPr lang="en-US" sz="2400" dirty="0">
                <a:solidFill>
                  <a:schemeClr val="bg1"/>
                </a:solidFill>
              </a:rPr>
              <a:t>GPU </a:t>
            </a:r>
            <a:r>
              <a:rPr lang="ru-RU" sz="2400" dirty="0">
                <a:solidFill>
                  <a:schemeClr val="bg1"/>
                </a:solidFill>
              </a:rPr>
              <a:t>в вычислительных целях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70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9">
            <a:extLst>
              <a:ext uri="{FF2B5EF4-FFF2-40B4-BE49-F238E27FC236}">
                <a16:creationId xmlns:a16="http://schemas.microsoft.com/office/drawing/2014/main" id="{A87CEA5A-215A-4DBB-B545-F50CF292DAA2}"/>
              </a:ext>
            </a:extLst>
          </p:cNvPr>
          <p:cNvSpPr txBox="1">
            <a:spLocks/>
          </p:cNvSpPr>
          <p:nvPr/>
        </p:nvSpPr>
        <p:spPr>
          <a:xfrm>
            <a:off x="3334872" y="1548148"/>
            <a:ext cx="5522258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СПАСИБО ЗА ВНИМАНИЕ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3B9451C-D678-4C99-AD69-CB9D3789CD4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81000" y="4773266"/>
            <a:ext cx="630000" cy="630000"/>
          </a:xfrm>
          <a:prstGeom prst="rect">
            <a:avLst/>
          </a:prstGeom>
        </p:spPr>
      </p:pic>
      <p:sp>
        <p:nvSpPr>
          <p:cNvPr id="17" name="Текст 11">
            <a:extLst>
              <a:ext uri="{FF2B5EF4-FFF2-40B4-BE49-F238E27FC236}">
                <a16:creationId xmlns:a16="http://schemas.microsoft.com/office/drawing/2014/main" id="{E4D2C2B0-57A9-45CB-8B9A-3A0D3020847C}"/>
              </a:ext>
            </a:extLst>
          </p:cNvPr>
          <p:cNvSpPr txBox="1">
            <a:spLocks/>
          </p:cNvSpPr>
          <p:nvPr/>
        </p:nvSpPr>
        <p:spPr>
          <a:xfrm>
            <a:off x="2608499" y="2882976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16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234</Words>
  <Application>Microsoft Office PowerPoint</Application>
  <PresentationFormat>Широкоэкранный</PresentationFormat>
  <Paragraphs>41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CUDA – простыми словами</vt:lpstr>
      <vt:lpstr>План-проспект</vt:lpstr>
      <vt:lpstr>GPU. Что и зачем?</vt:lpstr>
      <vt:lpstr>CPU. Что и зачем?</vt:lpstr>
      <vt:lpstr>CUDA</vt:lpstr>
      <vt:lpstr>Как?</vt:lpstr>
      <vt:lpstr>Заключение и ссылки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деловой, шаблон презентации с сайта presentation-creation.ru</dc:title>
  <dc:creator>User Obstinate</dc:creator>
  <cp:lastModifiedBy>Asus</cp:lastModifiedBy>
  <cp:revision>14</cp:revision>
  <dcterms:created xsi:type="dcterms:W3CDTF">2024-11-04T08:17:15Z</dcterms:created>
  <dcterms:modified xsi:type="dcterms:W3CDTF">2025-12-07T20:18:44Z</dcterms:modified>
</cp:coreProperties>
</file>