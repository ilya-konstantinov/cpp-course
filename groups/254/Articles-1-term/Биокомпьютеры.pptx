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35AB0-F7A2-1606-943C-F118339BE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AE74F3-DBAF-9110-A5EA-F591FE233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4A275-E2E6-27C8-051A-822FB75B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20192C-2E78-A8FF-AECC-2EEB083F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6C0AF1-E4E4-D4AE-760D-8B891158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21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6129B-385A-19C2-2F31-01980394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F3D5AD-2D0C-04FC-1B09-9D71945C4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F16DF1-9E2E-BD08-2723-08AD4A43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D8E848-7454-5C6A-3799-BB96F6CF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35A62C-4D43-EB19-7BC5-A9F06E83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1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8D0FD-DC04-4623-72AC-9BFF87CD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57DA37-8193-22B8-67C1-8BE6107CD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1CF6F-CE74-6893-D3BC-E46AEC61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4B087-239B-2375-ECB7-EAC253CC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FB55D-1BDD-9D59-21BB-0A169832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11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A664-AFA9-435F-200E-B128B45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3F321-2F8D-A2D9-62E6-0AD316CEB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A6AB8D-A767-095D-69FD-4AD0C2462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45BABB-B3AB-DB4B-0E6E-44BC680B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35893E-5EAA-8C41-6DAE-C7C8470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9F75CE-6BFD-1DED-0B0A-A15C7D80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45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C7A0B-2954-D626-3DB6-77491F7B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B4DEEF-3F10-33E9-5FAF-6447B4A35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2F6F4A-7B3B-A3C1-0387-8E0C14F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E8F148-7D23-2EA0-29CB-4223C3826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A38EBC4-04A9-6292-EE71-87ED0BBA6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B86217-6905-5303-A3B1-BAE33EDA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C4F9A-B690-1EE5-BF6A-B2B4F949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CC9D4D-DC84-D76A-E666-76C2ECD9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62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F999A-6656-DA46-186C-E81E17A8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CA99FA-A691-BB82-BC7B-7A9836E9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A085DA-EB85-E675-E0D4-8A30D737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D1CA05-77F3-D442-7F08-382CA5AE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99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AD322D-856D-37C8-C681-AE22D649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6DD286-22EA-4662-5A18-3B7BCBDC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DEE73F-C837-5F1E-3854-9584E45E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87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4EDD3-0BE6-D86D-A17C-40EA8E8C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36583-4C5C-F413-AC20-F41E6B1B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273278-549B-3F88-232B-74EBD2801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A0770D-09DD-8D52-CDA7-33B6A637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B5FB5C-07A6-D032-0F35-6B3683F4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55E3D5-CF2C-76B9-C9AF-38638DC8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83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C7EC4-A9C6-CC95-5BDB-39633702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532D34-9357-98D8-BF92-685A04DF0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665252-1F3D-1EE5-8BE1-33C68521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28BE70-5206-C390-FC07-D2CC8500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911D88-8562-8462-2C70-CC1CCD77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85F23-D7E3-E8FC-F8A9-324A6C6F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74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E5B8A-41A0-3C92-F4EF-658E5553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111E26-65A1-8C64-974A-4BFD82DDB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C2D7C8-EC34-C02B-CA17-BED2639B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3C0173-B465-8202-2617-5267198A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FA4F7-1DAB-151A-6D1A-0A599810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86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A51D54-6AF2-BAC3-A691-194BAC9E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5EA39D-8DF0-1A24-5A7C-573961992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474A0-F303-0FC5-BE88-34F50232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386FD-DCD8-695D-3690-EFEFBF33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AFBEE8-6EF7-5F0C-A820-422A0328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3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6ED20-F447-3024-CC20-532FD0F5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803FE5-DF80-05C3-AF84-F7D48840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3C246D-C397-D1DE-EB09-DE73AB190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41C09-F684-4B89-99DF-EAA520671EB4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20F208-66FD-BA69-41DD-7352C007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4B2B49-BEA9-40FE-3A53-2BCEF3155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8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79820-9ECB-CAEB-0A5F-68B076AEE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Биокомпьютеры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8420F-9FF8-07F5-4B12-D96C79739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Каплин Степан 10И5</a:t>
            </a:r>
          </a:p>
        </p:txBody>
      </p:sp>
    </p:spTree>
    <p:extLst>
      <p:ext uri="{BB962C8B-B14F-4D97-AF65-F5344CB8AC3E}">
        <p14:creationId xmlns:p14="http://schemas.microsoft.com/office/powerpoint/2010/main" val="154768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6010B-2F39-D077-E5E1-CA2BFD73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30986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D7BA0-1B3A-B030-173E-4108064D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3818"/>
            <a:ext cx="6096001" cy="4269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Герман фон Гельмгольц(1821-1894)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один из титанов науки XIX века, и его вклад в биофизику (хотя в его время такой термин еще не использовался повсеместно) был фундаментальным и разнообразным. Он сочетал в себе физика, физиолога и психолога, что и позволило ему совершить прорывы на стыке дисциплин.</a:t>
            </a:r>
            <a:endParaRPr lang="ru-RU" b="1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71B0C26-353C-BBC0-E9D7-68133550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87" y="0"/>
            <a:ext cx="556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8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FCAA2-574C-0B63-F03E-B5B72EDA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63267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232E3-CDDE-F3B7-3F71-B591B3C9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Джон</a:t>
            </a:r>
            <a:r>
              <a:rPr lang="de-DE" dirty="0"/>
              <a:t> </a:t>
            </a:r>
            <a:r>
              <a:rPr lang="de-DE" dirty="0" err="1"/>
              <a:t>фон</a:t>
            </a:r>
            <a:r>
              <a:rPr lang="de-DE" dirty="0"/>
              <a:t> </a:t>
            </a:r>
            <a:r>
              <a:rPr lang="de-DE" dirty="0" err="1"/>
              <a:t>Нейман</a:t>
            </a:r>
            <a:r>
              <a:rPr lang="de-DE" dirty="0"/>
              <a:t> (1903-1957)</a:t>
            </a: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венгеро-американский математик предложил концепцию                  самовоспроизводящихся автоматов, которая напрямую вдохновляла идеи о </a:t>
            </a:r>
            <a:r>
              <a:rPr lang="ru-RU" b="1" dirty="0"/>
              <a:t>самовоспроизводящихся молекулярных или клеточных системах</a:t>
            </a:r>
            <a:r>
              <a:rPr lang="ru-RU" dirty="0"/>
              <a:t>, аналогичных живым организмам.</a:t>
            </a:r>
          </a:p>
          <a:p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2992858-B181-D523-0FF2-B70DD2C6F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18255"/>
            <a:ext cx="534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13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D9B2-380C-8F8E-2987-06E0DA30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76F25-00FE-6CB6-2997-F42CB4C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63267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9FCF0-976B-AEEE-5CEE-EE35DDC92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2093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Клод Шеннон (1916-2001)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американский математик, «отец теории информации». Его работа «</a:t>
            </a:r>
            <a:r>
              <a:rPr lang="ru-RU" b="1" dirty="0"/>
              <a:t>Математическая теория связи</a:t>
            </a:r>
            <a:r>
              <a:rPr lang="ru-RU" dirty="0"/>
              <a:t>» (1948) формализовала понятия бита, энтропии и канала связи. Это </a:t>
            </a:r>
            <a:r>
              <a:rPr lang="ru-RU" b="1" dirty="0"/>
              <a:t>абсолютно фундаментально для любых вычислений, включая биологические</a:t>
            </a:r>
            <a:r>
              <a:rPr lang="ru-RU" dirty="0"/>
              <a:t>, так как позволило рассматривать биохимические реакции как потоки информации.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B16DC338-D880-51A6-D199-6A016159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110" y="10318"/>
            <a:ext cx="5469890" cy="683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C528-4A56-701A-1107-8BCFAA12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F9F41-E548-D441-8AE5-15CE9FDB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Итог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E03C7-7148-7215-4B33-985A8BDCE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2192000" cy="18142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Гельмгольц - </a:t>
            </a:r>
            <a:r>
              <a:rPr lang="ru-RU" b="1" dirty="0"/>
              <a:t>предтеча биоэнергетики</a:t>
            </a:r>
          </a:p>
          <a:p>
            <a:pPr marL="0" indent="0">
              <a:buNone/>
            </a:pPr>
            <a:r>
              <a:rPr lang="ru-RU" dirty="0"/>
              <a:t>фон Нейман - </a:t>
            </a:r>
            <a:r>
              <a:rPr lang="ru-RU" b="1" dirty="0"/>
              <a:t>архитектура и самовоспроизводство</a:t>
            </a:r>
          </a:p>
          <a:p>
            <a:pPr marL="0" indent="0">
              <a:buNone/>
            </a:pPr>
            <a:r>
              <a:rPr lang="ru-RU" dirty="0"/>
              <a:t>Шеннон — </a:t>
            </a:r>
            <a:r>
              <a:rPr lang="ru-RU" b="1" dirty="0"/>
              <a:t>язык</a:t>
            </a:r>
            <a:r>
              <a:rPr lang="ru-RU" dirty="0"/>
              <a:t> для описания информационных процессов в </a:t>
            </a:r>
            <a:r>
              <a:rPr lang="ru-RU" b="1" dirty="0"/>
              <a:t>любых</a:t>
            </a:r>
            <a:r>
              <a:rPr lang="ru-RU" dirty="0"/>
              <a:t> системах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2C8CC-E53B-43EF-2843-DFF2EFB4CBE5}"/>
              </a:ext>
            </a:extLst>
          </p:cNvPr>
          <p:cNvSpPr txBox="1"/>
          <p:nvPr/>
        </p:nvSpPr>
        <p:spPr>
          <a:xfrm>
            <a:off x="0" y="431385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Их идеи вместе создали теоретическую основу для </a:t>
            </a:r>
            <a:r>
              <a:rPr lang="ru-RU" sz="3600" b="1" dirty="0" err="1"/>
              <a:t>био</a:t>
            </a:r>
            <a:r>
              <a:rPr lang="ru-RU" sz="3600" b="1" dirty="0"/>
              <a:t>-компьютинга</a:t>
            </a:r>
            <a:r>
              <a:rPr lang="en-US" sz="3600" b="1" dirty="0"/>
              <a:t>.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11461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B1BDE-24D1-EEBC-F849-9AE2F7F2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Принципы работы биологических компьютеров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06762-8EE6-1A21-ABF1-D7F3BD9F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>
            <a:noAutofit/>
          </a:bodyPr>
          <a:lstStyle/>
          <a:p>
            <a:r>
              <a:rPr lang="ru-RU" b="1" dirty="0"/>
              <a:t>Логические вентили из ДНК:</a:t>
            </a:r>
            <a:r>
              <a:rPr lang="ru-RU" dirty="0"/>
              <a:t> Используя принципы комплементарности и ферментативные реакции (разрезание, сшивание ДНК), можно сконструировать биохимические схемы, которые работают как </a:t>
            </a:r>
            <a:r>
              <a:rPr lang="ru-RU" b="1" dirty="0"/>
              <a:t>И, ИЛИ, НЕ</a:t>
            </a:r>
            <a:r>
              <a:rPr lang="ru-RU" dirty="0"/>
              <a:t> и другие логические элементы. Входные сигналы — это наличие или отсутствие конкретных молекул ДНК, выходной сигнал — также молекула ДНК или флуоресцентный сигнал.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Хранение информации:</a:t>
            </a:r>
            <a:r>
              <a:rPr lang="ru-RU" dirty="0"/>
              <a:t> Кодируется 4-буквенным алфавитом (A, T, G, C), что аналогично двоичному (0 и 1), но с большей плотностью. "Хранится в тканях" — верно, но точнее: информация может храниться в синтетических ДНК-нитях в пробирке или, в перспективе, внутри живых клеток как часть их генома.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47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B17EA-E430-E3ED-E02D-81E77EAA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Преимущества</a:t>
            </a:r>
            <a:r>
              <a:rPr lang="en-US" b="1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9FCA7F-F4EF-A493-18B4-8A43AA346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ru-RU" b="1" dirty="0"/>
              <a:t>Биосовместимость и медицина:</a:t>
            </a:r>
            <a:r>
              <a:rPr lang="en-US" b="1" dirty="0"/>
              <a:t> </a:t>
            </a:r>
            <a:r>
              <a:rPr lang="ru-RU" dirty="0"/>
              <a:t>Клетки-компьютеры могут диагностировать болезнь внутри тела (по наличию маркеров) и точечно производить лекарство. </a:t>
            </a:r>
            <a:r>
              <a:rPr lang="ru-RU" b="1" dirty="0"/>
              <a:t>Тераностика (диагностика + терапия)</a:t>
            </a:r>
            <a:r>
              <a:rPr lang="ru-RU" dirty="0"/>
              <a:t> — ключевое применение.</a:t>
            </a:r>
          </a:p>
          <a:p>
            <a:pPr lvl="1"/>
            <a:r>
              <a:rPr lang="ru-RU" b="1" dirty="0"/>
              <a:t>Параллелизм:</a:t>
            </a:r>
            <a:r>
              <a:rPr lang="ru-RU" dirty="0"/>
              <a:t> Одна пробирка содержит триллионы молекул, работающих одновременно.</a:t>
            </a:r>
          </a:p>
          <a:p>
            <a:pPr lvl="1"/>
            <a:r>
              <a:rPr lang="ru-RU" b="1" dirty="0"/>
              <a:t>Энергоэффективность:</a:t>
            </a:r>
            <a:r>
              <a:rPr lang="ru-RU" dirty="0"/>
              <a:t> Биологические процессы идут при комнатной температуре и атмосферном давлении.</a:t>
            </a:r>
          </a:p>
          <a:p>
            <a:pPr lvl="1"/>
            <a:r>
              <a:rPr lang="ru-RU" b="1" dirty="0"/>
              <a:t>Долговечность хранения данных на ДНК:</a:t>
            </a:r>
            <a:r>
              <a:rPr lang="ru-RU" dirty="0"/>
              <a:t> Записанная таким образом информация хранится может храниться </a:t>
            </a:r>
            <a:r>
              <a:rPr lang="ru-RU" b="1" dirty="0"/>
              <a:t>сотни тысяч, а то и миллионы лет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564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509F-C82C-682D-4B5C-FF862CFF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EC44A-9DBD-E2AB-82BD-C6965541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Недостатки и риски: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B2CF34-2AC4-18A5-6E7F-3DC2DEC9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ru-RU" b="1" dirty="0"/>
              <a:t>Скорость:</a:t>
            </a:r>
            <a:r>
              <a:rPr lang="ru-RU" dirty="0"/>
              <a:t> Очень мала по сравнению с кремнием. Отдельная молекулярная реакция может занимать минуты и часы. Скорость — в массовом параллелизме, а не в тактовой частоте.</a:t>
            </a:r>
          </a:p>
          <a:p>
            <a:pPr lvl="1"/>
            <a:r>
              <a:rPr lang="ru-RU" b="1" dirty="0"/>
              <a:t>Био-безопасность и этика</a:t>
            </a:r>
            <a:r>
              <a:rPr lang="en-US" b="1" dirty="0"/>
              <a:t>:</a:t>
            </a:r>
            <a:r>
              <a:rPr lang="ru-RU" dirty="0"/>
              <a:t> Это критически важно. Синтетические организмы могут выйти из-под контроля, обмениваться генами с природными, нарушать экологию. Существуют строгие протоколы сдерживания.</a:t>
            </a:r>
          </a:p>
          <a:p>
            <a:pPr lvl="1"/>
            <a:r>
              <a:rPr lang="ru-RU" b="1" dirty="0"/>
              <a:t>Цена:</a:t>
            </a:r>
            <a:r>
              <a:rPr lang="ru-RU" dirty="0"/>
              <a:t> Синтез и секвенирование ДНК дешевеют, но все еще дороги для массовых вычислений.</a:t>
            </a:r>
          </a:p>
          <a:p>
            <a:pPr lvl="1"/>
            <a:r>
              <a:rPr lang="ru-RU" b="1" dirty="0"/>
              <a:t>Точность:</a:t>
            </a:r>
            <a:r>
              <a:rPr lang="ru-RU" dirty="0"/>
              <a:t> Вероятность ошибок в биохимических реакциях выше, чем в кремниевых чипах.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4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926B1-4B27-3699-37CF-798FA515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Области применения (резюме):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40016-16F5-B67E-D83D-1CB585DF6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343818"/>
            <a:ext cx="10515600" cy="5514182"/>
          </a:xfrm>
        </p:spPr>
        <p:txBody>
          <a:bodyPr>
            <a:noAutofit/>
          </a:bodyPr>
          <a:lstStyle/>
          <a:p>
            <a:r>
              <a:rPr lang="ru-RU" sz="2300" b="1" dirty="0"/>
              <a:t>Медицина:</a:t>
            </a:r>
            <a:r>
              <a:rPr lang="ru-RU" sz="2300" dirty="0"/>
              <a:t> "Умные" диагностические системы и терапевтические клетки.</a:t>
            </a:r>
          </a:p>
          <a:p>
            <a:r>
              <a:rPr lang="ru-RU" sz="2300" b="1" dirty="0"/>
              <a:t>Хранение данных:</a:t>
            </a:r>
            <a:r>
              <a:rPr lang="ru-RU" sz="2300" dirty="0"/>
              <a:t> Архивное хранение огромных массивов информации на века.</a:t>
            </a:r>
          </a:p>
          <a:p>
            <a:r>
              <a:rPr lang="ru-RU" sz="2300" b="1" dirty="0"/>
              <a:t>Фундаментальные исследования и ИИ:</a:t>
            </a:r>
            <a:r>
              <a:rPr lang="ru-RU" sz="2300" dirty="0"/>
              <a:t> Моделирование биологических сетей, создание новых материалов, исследование происхождения жизни. Биологические системы — вдохновение для новых алгоритмов ИИ (нейросети родом из биологии).</a:t>
            </a:r>
          </a:p>
          <a:p>
            <a:pPr marL="0" indent="0">
              <a:buNone/>
            </a:pPr>
            <a:endParaRPr lang="ru-RU" sz="2300" dirty="0"/>
          </a:p>
          <a:p>
            <a:pPr marL="0" indent="0">
              <a:buNone/>
            </a:pPr>
            <a:r>
              <a:rPr lang="ru-RU" sz="2300" b="1" dirty="0"/>
              <a:t>Вывод:</a:t>
            </a:r>
          </a:p>
          <a:p>
            <a:pPr marL="0" indent="0">
              <a:buNone/>
            </a:pPr>
            <a:r>
              <a:rPr lang="ru-RU" sz="2300" dirty="0"/>
              <a:t>Биокомпьютеры — это не замена кремниевым, а </a:t>
            </a:r>
            <a:r>
              <a:rPr lang="ru-RU" sz="2300" b="1" dirty="0"/>
              <a:t>принципиально иная парадигма вычислений</a:t>
            </a:r>
            <a:r>
              <a:rPr lang="ru-RU" sz="2300" dirty="0"/>
              <a:t>, наиболее перспективная для прямого взаимодействия с живыми системами и решения специфических задач, где сила — в массовом параллелизме и биосовместимости. Поле находится на стыке информатики, молекулярной биологии, химии и инженерии, и его развитие, хоть и медленное, неуклонно продолжается.</a:t>
            </a:r>
          </a:p>
          <a:p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7073260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584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Биокомпьютеры</vt:lpstr>
      <vt:lpstr>Исторические предпосылки</vt:lpstr>
      <vt:lpstr>Исторические предпосылки</vt:lpstr>
      <vt:lpstr>Исторические предпосылки</vt:lpstr>
      <vt:lpstr>Итог:</vt:lpstr>
      <vt:lpstr>Принципы работы биологических компьютеров</vt:lpstr>
      <vt:lpstr>Преимущества:</vt:lpstr>
      <vt:lpstr>Недостатки и риски:</vt:lpstr>
      <vt:lpstr>Области применения (резюме):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Степан Каплин</dc:creator>
  <cp:lastModifiedBy>Степан Каплин</cp:lastModifiedBy>
  <cp:revision>1</cp:revision>
  <dcterms:created xsi:type="dcterms:W3CDTF">2025-12-05T16:04:40Z</dcterms:created>
  <dcterms:modified xsi:type="dcterms:W3CDTF">2025-12-05T18:04:39Z</dcterms:modified>
</cp:coreProperties>
</file>